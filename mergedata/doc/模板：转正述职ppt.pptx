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60" r:id="rId2"/>
    <p:sldId id="303" r:id="rId3"/>
    <p:sldId id="275" r:id="rId4"/>
    <p:sldId id="278" r:id="rId5"/>
    <p:sldId id="279" r:id="rId6"/>
    <p:sldId id="299" r:id="rId7"/>
    <p:sldId id="280" r:id="rId8"/>
    <p:sldId id="304" r:id="rId9"/>
    <p:sldId id="305" r:id="rId10"/>
    <p:sldId id="283" r:id="rId11"/>
    <p:sldId id="301" r:id="rId12"/>
    <p:sldId id="285" r:id="rId13"/>
    <p:sldId id="284" r:id="rId14"/>
    <p:sldId id="25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4" autoAdjust="0"/>
    <p:restoredTop sz="94118" autoAdjust="0"/>
  </p:normalViewPr>
  <p:slideViewPr>
    <p:cSldViewPr snapToGrid="0">
      <p:cViewPr varScale="1">
        <p:scale>
          <a:sx n="89" d="100"/>
          <a:sy n="89" d="100"/>
        </p:scale>
        <p:origin x="9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EDA15-5181-4A25-9EB3-8933F5F9883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51453-A3BB-4A2A-B666-897F7BAD4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62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376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对项目验收</a:t>
            </a:r>
            <a:r>
              <a:rPr lang="en-US" altLang="zh-CN" dirty="0"/>
              <a:t>&amp;</a:t>
            </a:r>
            <a:r>
              <a:rPr lang="zh-CN" altLang="en-US" dirty="0"/>
              <a:t>项目问题协调推进有较大的影响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F51453-A3BB-4A2A-B666-897F7BAD4EE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65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对项目验收</a:t>
            </a:r>
            <a:r>
              <a:rPr lang="en-US" altLang="zh-CN" dirty="0"/>
              <a:t>&amp;</a:t>
            </a:r>
            <a:r>
              <a:rPr lang="zh-CN" altLang="en-US" dirty="0"/>
              <a:t>项目问题协调推进有较大的影响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F51453-A3BB-4A2A-B666-897F7BAD4EE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423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67BD50-39EB-48FD-B98F-DB7DBC10892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587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8E28A-5301-4EE3-8FFB-B773EDC3CE34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1D0E-A3D8-491D-A727-B0B9BE825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0AE2F-D25E-4D6D-B083-A98FBEB89C51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1D0E-A3D8-491D-A727-B0B9BE825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5472-BB76-4062-A9C6-86E88AEE126D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1D0E-A3D8-491D-A727-B0B9BE825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95ED8-F245-4FC7-AB55-634D12FB6EE8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1D0E-A3D8-491D-A727-B0B9BE825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9ADF-8068-497E-A534-7782ABDB98A9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1D0E-A3D8-491D-A727-B0B9BE825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DCA-9104-4DB4-9618-B088BB9E1973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1D0E-A3D8-491D-A727-B0B9BE8255D7}" type="slidenum">
              <a:rPr lang="zh-CN" altLang="en-US" smtClean="0"/>
              <a:t>‹#›</a:t>
            </a:fld>
            <a:r>
              <a:rPr lang="en-US" altLang="zh-CN"/>
              <a:t>/5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50A9-F086-4E68-8DA2-AE6B52039743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1D0E-A3D8-491D-A727-B0B9BE825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9FFF-186F-4C62-88EA-400D05183A3B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1D0E-A3D8-491D-A727-B0B9BE825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2CA9-ED6F-4A10-B296-5A02BE9C4016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1D0E-A3D8-491D-A727-B0B9BE825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0777A-3940-434C-B66E-41573B7A67A1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1D0E-A3D8-491D-A727-B0B9BE825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C8AA3-7003-4B30-A5D8-B4281C099000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1D0E-A3D8-491D-A727-B0B9BE825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C3A63-4F21-41EF-8D2A-84B6FF5E4292}" type="datetime1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41D0E-A3D8-491D-A727-B0B9BE8255D7}" type="slidenum">
              <a:rPr lang="zh-CN" altLang="en-US" smtClean="0"/>
              <a:t>‹#›</a:t>
            </a:fld>
            <a:r>
              <a:rPr lang="en-US" altLang="zh-CN"/>
              <a:t>/5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6420"/>
            <a:ext cx="12192000" cy="34290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0" y="2292265"/>
            <a:ext cx="12191999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转正述职报告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058" y="375671"/>
            <a:ext cx="3658378" cy="73167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525782" y="4265183"/>
            <a:ext cx="2287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述职人：魏</a:t>
            </a:r>
            <a:r>
              <a:rPr lang="en-US" altLang="zh-CN" sz="2000" b="1" dirty="0">
                <a:solidFill>
                  <a:schemeClr val="bg1"/>
                </a:solidFill>
              </a:rPr>
              <a:t>	</a:t>
            </a:r>
            <a:r>
              <a:rPr lang="zh-CN" altLang="en-US" sz="2000" b="1" dirty="0">
                <a:solidFill>
                  <a:schemeClr val="bg1"/>
                </a:solidFill>
              </a:rPr>
              <a:t>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717984" y="5829300"/>
            <a:ext cx="4382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南部中心</a:t>
            </a:r>
            <a:r>
              <a:rPr lang="en-US" altLang="zh-CN" sz="2400" b="1" dirty="0">
                <a:latin typeface="+mj-ea"/>
                <a:ea typeface="+mj-ea"/>
              </a:rPr>
              <a:t>|</a:t>
            </a:r>
            <a:r>
              <a:rPr lang="zh-CN" altLang="en-US" sz="2400" b="1" dirty="0">
                <a:latin typeface="+mj-ea"/>
                <a:ea typeface="+mj-ea"/>
              </a:rPr>
              <a:t>南部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组</a:t>
            </a:r>
            <a:r>
              <a:rPr lang="en-US" altLang="zh-CN" sz="2400" b="1" dirty="0">
                <a:latin typeface="+mj-ea"/>
                <a:ea typeface="+mj-ea"/>
              </a:rPr>
              <a:t>-</a:t>
            </a:r>
            <a:r>
              <a:rPr lang="zh-CN" altLang="en-US" sz="2400" b="1" dirty="0">
                <a:latin typeface="+mj-ea"/>
                <a:ea typeface="+mj-ea"/>
              </a:rPr>
              <a:t>交付组部门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9" name="iṥľîḍe"/>
          <p:cNvSpPr/>
          <p:nvPr/>
        </p:nvSpPr>
        <p:spPr bwMode="auto">
          <a:xfrm rot="13500000">
            <a:off x="-930105" y="3969472"/>
            <a:ext cx="1860208" cy="1860208"/>
          </a:xfrm>
          <a:custGeom>
            <a:avLst/>
            <a:gdLst>
              <a:gd name="connsiteX0" fmla="*/ 0 w 2304255"/>
              <a:gd name="connsiteY0" fmla="*/ 0 h 2304255"/>
              <a:gd name="connsiteX1" fmla="*/ 2304255 w 2304255"/>
              <a:gd name="connsiteY1" fmla="*/ 2304255 h 2304255"/>
              <a:gd name="connsiteX2" fmla="*/ 0 w 2304255"/>
              <a:gd name="connsiteY2" fmla="*/ 2304255 h 2304255"/>
              <a:gd name="connsiteX3" fmla="*/ 0 w 2304255"/>
              <a:gd name="connsiteY3" fmla="*/ 0 h 2304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255" h="2304255">
                <a:moveTo>
                  <a:pt x="0" y="0"/>
                </a:moveTo>
                <a:lnTo>
                  <a:pt x="2304255" y="2304255"/>
                </a:lnTo>
                <a:lnTo>
                  <a:pt x="0" y="23042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0" name="iśḻíďe"/>
          <p:cNvSpPr/>
          <p:nvPr/>
        </p:nvSpPr>
        <p:spPr bwMode="auto">
          <a:xfrm rot="2700000">
            <a:off x="-930109" y="1051361"/>
            <a:ext cx="1860208" cy="1860208"/>
          </a:xfrm>
          <a:custGeom>
            <a:avLst/>
            <a:gdLst>
              <a:gd name="connsiteX0" fmla="*/ 2304256 w 2304256"/>
              <a:gd name="connsiteY0" fmla="*/ 0 h 2304256"/>
              <a:gd name="connsiteX1" fmla="*/ 2304256 w 2304256"/>
              <a:gd name="connsiteY1" fmla="*/ 2304256 h 2304256"/>
              <a:gd name="connsiteX2" fmla="*/ 2304255 w 2304256"/>
              <a:gd name="connsiteY2" fmla="*/ 2304256 h 2304256"/>
              <a:gd name="connsiteX3" fmla="*/ 0 w 2304256"/>
              <a:gd name="connsiteY3" fmla="*/ 1 h 2304256"/>
              <a:gd name="connsiteX4" fmla="*/ 0 w 2304256"/>
              <a:gd name="connsiteY4" fmla="*/ 0 h 2304256"/>
              <a:gd name="connsiteX5" fmla="*/ 2304256 w 2304256"/>
              <a:gd name="connsiteY5" fmla="*/ 0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4256" h="2304256">
                <a:moveTo>
                  <a:pt x="2304256" y="0"/>
                </a:moveTo>
                <a:lnTo>
                  <a:pt x="2304256" y="2304256"/>
                </a:lnTo>
                <a:lnTo>
                  <a:pt x="2304255" y="2304256"/>
                </a:lnTo>
                <a:lnTo>
                  <a:pt x="0" y="1"/>
                </a:lnTo>
                <a:lnTo>
                  <a:pt x="0" y="0"/>
                </a:lnTo>
                <a:lnTo>
                  <a:pt x="2304256" y="0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2" name="ïṡ1íḋê"/>
          <p:cNvSpPr/>
          <p:nvPr/>
        </p:nvSpPr>
        <p:spPr bwMode="auto">
          <a:xfrm rot="5400000">
            <a:off x="-780266" y="2648735"/>
            <a:ext cx="3121063" cy="1560531"/>
          </a:xfrm>
          <a:custGeom>
            <a:avLst/>
            <a:gdLst>
              <a:gd name="connsiteX0" fmla="*/ 2367656 w 4735313"/>
              <a:gd name="connsiteY0" fmla="*/ 0 h 2367656"/>
              <a:gd name="connsiteX1" fmla="*/ 4735313 w 4735313"/>
              <a:gd name="connsiteY1" fmla="*/ 2367656 h 2367656"/>
              <a:gd name="connsiteX2" fmla="*/ 3847062 w 4735313"/>
              <a:gd name="connsiteY2" fmla="*/ 2367656 h 2367656"/>
              <a:gd name="connsiteX3" fmla="*/ 2367656 w 4735313"/>
              <a:gd name="connsiteY3" fmla="*/ 888250 h 2367656"/>
              <a:gd name="connsiteX4" fmla="*/ 888250 w 4735313"/>
              <a:gd name="connsiteY4" fmla="*/ 2367656 h 2367656"/>
              <a:gd name="connsiteX5" fmla="*/ 0 w 4735313"/>
              <a:gd name="connsiteY5" fmla="*/ 2367656 h 2367656"/>
              <a:gd name="connsiteX6" fmla="*/ 2367656 w 4735313"/>
              <a:gd name="connsiteY6" fmla="*/ 0 h 23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35313" h="2367656">
                <a:moveTo>
                  <a:pt x="2367656" y="0"/>
                </a:moveTo>
                <a:lnTo>
                  <a:pt x="4735313" y="2367656"/>
                </a:lnTo>
                <a:lnTo>
                  <a:pt x="3847062" y="2367656"/>
                </a:lnTo>
                <a:lnTo>
                  <a:pt x="2367656" y="888250"/>
                </a:lnTo>
                <a:lnTo>
                  <a:pt x="888250" y="2367656"/>
                </a:lnTo>
                <a:lnTo>
                  <a:pt x="0" y="2367656"/>
                </a:lnTo>
                <a:lnTo>
                  <a:pt x="2367656" y="0"/>
                </a:lnTo>
                <a:close/>
              </a:path>
            </a:pathLst>
          </a:custGeom>
          <a:solidFill>
            <a:schemeClr val="tx2">
              <a:alpha val="77000"/>
            </a:schemeClr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3" name="íṧľiḍê"/>
          <p:cNvSpPr/>
          <p:nvPr/>
        </p:nvSpPr>
        <p:spPr>
          <a:xfrm>
            <a:off x="275812" y="2967335"/>
            <a:ext cx="3736523" cy="92333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/>
            <a:r>
              <a:rPr lang="zh-CN" altLang="en-US" sz="5400" b="1" spc="300" dirty="0">
                <a:solidFill>
                  <a:schemeClr val="tx2"/>
                </a:solidFill>
              </a:rPr>
              <a:t>目录</a:t>
            </a:r>
          </a:p>
        </p:txBody>
      </p:sp>
      <p:grpSp>
        <p:nvGrpSpPr>
          <p:cNvPr id="8" name="ïṡ1íḓè"/>
          <p:cNvGrpSpPr/>
          <p:nvPr/>
        </p:nvGrpSpPr>
        <p:grpSpPr>
          <a:xfrm>
            <a:off x="4861143" y="1218709"/>
            <a:ext cx="4439624" cy="2073776"/>
            <a:chOff x="6792409" y="1649954"/>
            <a:chExt cx="4439624" cy="2051679"/>
          </a:xfrm>
        </p:grpSpPr>
        <p:sp>
          <p:nvSpPr>
            <p:cNvPr id="13" name="îśļiḑê"/>
            <p:cNvSpPr/>
            <p:nvPr/>
          </p:nvSpPr>
          <p:spPr>
            <a:xfrm>
              <a:off x="6792409" y="3077284"/>
              <a:ext cx="624349" cy="624349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</a:p>
          </p:txBody>
        </p:sp>
        <p:sp>
          <p:nvSpPr>
            <p:cNvPr id="23" name="îṣḷîdé"/>
            <p:cNvSpPr txBox="1"/>
            <p:nvPr/>
          </p:nvSpPr>
          <p:spPr>
            <a:xfrm>
              <a:off x="7269459" y="3347369"/>
              <a:ext cx="3962574" cy="242863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zh-CN" altLang="en-US" sz="2800" b="1" dirty="0">
                  <a:solidFill>
                    <a:schemeClr val="accent4"/>
                  </a:solidFill>
                </a:rPr>
                <a:t>试用期成长轨迹</a:t>
              </a:r>
              <a:r>
                <a:rPr lang="en-US" altLang="zh-CN" sz="2800" b="1" dirty="0">
                  <a:solidFill>
                    <a:schemeClr val="accent4"/>
                  </a:solidFill>
                </a:rPr>
                <a:t>(</a:t>
              </a:r>
              <a:r>
                <a:rPr lang="zh-CN" altLang="en-US" sz="2800" b="1" dirty="0">
                  <a:solidFill>
                    <a:schemeClr val="accent4"/>
                  </a:solidFill>
                </a:rPr>
                <a:t>试用期工作总结</a:t>
              </a:r>
              <a:r>
                <a:rPr lang="en-US" altLang="zh-CN" sz="2800" b="1" dirty="0">
                  <a:solidFill>
                    <a:schemeClr val="accent4"/>
                  </a:solidFill>
                </a:rPr>
                <a:t>)</a:t>
              </a:r>
              <a:endParaRPr lang="zh-CN" altLang="en-US" sz="2800" b="1" dirty="0">
                <a:solidFill>
                  <a:schemeClr val="accent4"/>
                </a:solidFill>
              </a:endParaRPr>
            </a:p>
          </p:txBody>
        </p:sp>
        <p:sp>
          <p:nvSpPr>
            <p:cNvPr id="15" name="iŝľíḋè"/>
            <p:cNvSpPr/>
            <p:nvPr/>
          </p:nvSpPr>
          <p:spPr>
            <a:xfrm>
              <a:off x="6792409" y="2358907"/>
              <a:ext cx="624349" cy="624349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</a:p>
          </p:txBody>
        </p:sp>
        <p:sp>
          <p:nvSpPr>
            <p:cNvPr id="21" name="ïṡľîḑé"/>
            <p:cNvSpPr txBox="1"/>
            <p:nvPr/>
          </p:nvSpPr>
          <p:spPr>
            <a:xfrm>
              <a:off x="7269459" y="2579387"/>
              <a:ext cx="3962574" cy="242864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zh-CN" altLang="en-US" sz="2800" b="1" dirty="0">
                  <a:solidFill>
                    <a:schemeClr val="accent2">
                      <a:lumMod val="100000"/>
                    </a:schemeClr>
                  </a:solidFill>
                </a:rPr>
                <a:t>部门职能理解与岗位职责认知</a:t>
              </a:r>
            </a:p>
          </p:txBody>
        </p:sp>
        <p:sp>
          <p:nvSpPr>
            <p:cNvPr id="17" name="íSḻïdê"/>
            <p:cNvSpPr/>
            <p:nvPr/>
          </p:nvSpPr>
          <p:spPr>
            <a:xfrm>
              <a:off x="6792411" y="1649954"/>
              <a:ext cx="624349" cy="624349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</a:p>
          </p:txBody>
        </p:sp>
        <p:sp>
          <p:nvSpPr>
            <p:cNvPr id="19" name="îSľíḋe"/>
            <p:cNvSpPr txBox="1"/>
            <p:nvPr/>
          </p:nvSpPr>
          <p:spPr>
            <a:xfrm>
              <a:off x="7269459" y="1881692"/>
              <a:ext cx="3962574" cy="242864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zh-CN" altLang="en-US" sz="2800" b="1" dirty="0">
                  <a:solidFill>
                    <a:schemeClr val="accent1">
                      <a:lumMod val="100000"/>
                    </a:schemeClr>
                  </a:solidFill>
                </a:rPr>
                <a:t>自我介绍</a:t>
              </a:r>
            </a:p>
          </p:txBody>
        </p:sp>
      </p:grpSp>
      <p:sp>
        <p:nvSpPr>
          <p:cNvPr id="6" name="i$1íḋè"/>
          <p:cNvSpPr/>
          <p:nvPr/>
        </p:nvSpPr>
        <p:spPr>
          <a:xfrm>
            <a:off x="2426007" y="3811837"/>
            <a:ext cx="1569660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 algn="r"/>
            <a:r>
              <a:rPr lang="en-US" altLang="zh-CN" b="1" spc="300">
                <a:solidFill>
                  <a:schemeClr val="tx2"/>
                </a:solidFill>
              </a:rPr>
              <a:t>CONTENT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058" y="375671"/>
            <a:ext cx="3658378" cy="731676"/>
          </a:xfrm>
          <a:prstGeom prst="rect">
            <a:avLst/>
          </a:prstGeom>
        </p:spPr>
      </p:pic>
      <p:sp>
        <p:nvSpPr>
          <p:cNvPr id="26" name="îśļiḑê"/>
          <p:cNvSpPr/>
          <p:nvPr/>
        </p:nvSpPr>
        <p:spPr>
          <a:xfrm>
            <a:off x="4870668" y="3389014"/>
            <a:ext cx="624349" cy="624349"/>
          </a:xfrm>
          <a:prstGeom prst="diamond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28" name="îśļiḑê"/>
          <p:cNvSpPr/>
          <p:nvPr/>
        </p:nvSpPr>
        <p:spPr>
          <a:xfrm>
            <a:off x="4870668" y="4906261"/>
            <a:ext cx="624349" cy="624349"/>
          </a:xfrm>
          <a:prstGeom prst="diamon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mpact" panose="020B0806030902050204" pitchFamily="34" charset="0"/>
              </a:rPr>
              <a:t>06</a:t>
            </a:r>
          </a:p>
        </p:txBody>
      </p:sp>
      <p:sp>
        <p:nvSpPr>
          <p:cNvPr id="31" name="îṣḷîdé"/>
          <p:cNvSpPr txBox="1"/>
          <p:nvPr/>
        </p:nvSpPr>
        <p:spPr>
          <a:xfrm>
            <a:off x="5338193" y="4578044"/>
            <a:ext cx="3962574" cy="242864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rmAutofit lnSpcReduction="10000"/>
          </a:bodyPr>
          <a:lstStyle/>
          <a:p>
            <a:endParaRPr lang="zh-CN" altLang="en-US" sz="1600" b="1" dirty="0">
              <a:solidFill>
                <a:schemeClr val="accent4"/>
              </a:solidFill>
            </a:endParaRPr>
          </a:p>
        </p:txBody>
      </p:sp>
      <p:sp>
        <p:nvSpPr>
          <p:cNvPr id="35" name="îṣḷîdé"/>
          <p:cNvSpPr txBox="1"/>
          <p:nvPr/>
        </p:nvSpPr>
        <p:spPr>
          <a:xfrm>
            <a:off x="5338193" y="3610596"/>
            <a:ext cx="3962574" cy="321797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自我评价（优点及不足）</a:t>
            </a:r>
          </a:p>
        </p:txBody>
      </p:sp>
      <p:sp>
        <p:nvSpPr>
          <p:cNvPr id="38" name="îṣḷîdé"/>
          <p:cNvSpPr txBox="1"/>
          <p:nvPr/>
        </p:nvSpPr>
        <p:spPr>
          <a:xfrm>
            <a:off x="5338193" y="5179714"/>
            <a:ext cx="3962574" cy="242864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Autofit/>
          </a:bodyPr>
          <a:lstStyle/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个人在公司近三年职业发展规划</a:t>
            </a:r>
          </a:p>
        </p:txBody>
      </p:sp>
      <p:sp>
        <p:nvSpPr>
          <p:cNvPr id="24" name="îśļiḑê"/>
          <p:cNvSpPr/>
          <p:nvPr/>
        </p:nvSpPr>
        <p:spPr>
          <a:xfrm>
            <a:off x="4870668" y="4176414"/>
            <a:ext cx="624349" cy="624349"/>
          </a:xfrm>
          <a:prstGeom prst="diamond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27" name="îṣḷîdé"/>
          <p:cNvSpPr txBox="1"/>
          <p:nvPr/>
        </p:nvSpPr>
        <p:spPr>
          <a:xfrm>
            <a:off x="5359400" y="4086862"/>
            <a:ext cx="3327684" cy="581266"/>
          </a:xfrm>
          <a:prstGeom prst="rect">
            <a:avLst/>
          </a:prstGeom>
          <a:noFill/>
          <a:ln>
            <a:noFill/>
          </a:ln>
        </p:spPr>
        <p:txBody>
          <a:bodyPr wrap="none" lIns="360000" tIns="0" rIns="0" bIns="0" anchor="b" anchorCtr="0">
            <a:noAutofit/>
          </a:bodyPr>
          <a:lstStyle/>
          <a:p>
            <a:r>
              <a:rPr lang="zh-CN" altLang="en-US" sz="2800" b="1" dirty="0">
                <a:solidFill>
                  <a:srgbClr val="00B0F0"/>
                </a:solidFill>
              </a:rPr>
              <a:t>对部门及公司的建议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5" name="标题 2"/>
          <p:cNvSpPr txBox="1"/>
          <p:nvPr/>
        </p:nvSpPr>
        <p:spPr>
          <a:xfrm>
            <a:off x="507162" y="245608"/>
            <a:ext cx="4522038" cy="3580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述职内容参考</a:t>
            </a:r>
          </a:p>
        </p:txBody>
      </p:sp>
      <p:sp>
        <p:nvSpPr>
          <p:cNvPr id="26" name="矩形 25"/>
          <p:cNvSpPr/>
          <p:nvPr/>
        </p:nvSpPr>
        <p:spPr>
          <a:xfrm>
            <a:off x="292100" y="245608"/>
            <a:ext cx="139700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28" name="矩形 27"/>
          <p:cNvSpPr/>
          <p:nvPr/>
        </p:nvSpPr>
        <p:spPr>
          <a:xfrm>
            <a:off x="5327373" y="245608"/>
            <a:ext cx="6864625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30" name="TextBox 7"/>
          <p:cNvSpPr txBox="1"/>
          <p:nvPr/>
        </p:nvSpPr>
        <p:spPr>
          <a:xfrm>
            <a:off x="10566398" y="264755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南部一组部门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5006" y="2305007"/>
            <a:ext cx="2543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、姓名、部门、岗位；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、性格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、兴趣爱好；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376" y="1209325"/>
            <a:ext cx="3390476" cy="80952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0305" y="1271230"/>
            <a:ext cx="4495238" cy="685714"/>
          </a:xfrm>
          <a:prstGeom prst="rect">
            <a:avLst/>
          </a:prstGeom>
        </p:spPr>
      </p:pic>
      <p:sp>
        <p:nvSpPr>
          <p:cNvPr id="76" name="文本框 75"/>
          <p:cNvSpPr txBox="1"/>
          <p:nvPr/>
        </p:nvSpPr>
        <p:spPr>
          <a:xfrm>
            <a:off x="3504255" y="2249036"/>
            <a:ext cx="3520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、部门的职能认知理解描述；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、部门的工作目标；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、通过试用工作，你对岗位和工作的认知；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748" y="1181798"/>
            <a:ext cx="4333333" cy="8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820" y="3803484"/>
            <a:ext cx="3304762" cy="742857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7950875" y="2120341"/>
            <a:ext cx="41346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PingFang SC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PingFang SC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latin typeface="PingFang SC"/>
              </a:rPr>
              <a:t>】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试用期工作总清单及工作成果展示；</a:t>
            </a:r>
            <a:endParaRPr lang="en-US" altLang="zh-CN" dirty="0">
              <a:solidFill>
                <a:srgbClr val="FF0000"/>
              </a:solidFill>
              <a:latin typeface="PingFang SC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PingFang SC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、遇到的问题及改进方法；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PingFang SC"/>
              </a:rPr>
              <a:t>3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、学到的知识；</a:t>
            </a:r>
          </a:p>
        </p:txBody>
      </p:sp>
      <p:sp>
        <p:nvSpPr>
          <p:cNvPr id="14" name="矩形 13"/>
          <p:cNvSpPr/>
          <p:nvPr/>
        </p:nvSpPr>
        <p:spPr>
          <a:xfrm>
            <a:off x="162043" y="4872024"/>
            <a:ext cx="3065899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PingFang SC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、胜任此岗位，您认为您的优势是什么？</a:t>
            </a:r>
          </a:p>
        </p:txBody>
      </p:sp>
      <p:sp>
        <p:nvSpPr>
          <p:cNvPr id="22" name="矩形 21"/>
          <p:cNvSpPr/>
          <p:nvPr/>
        </p:nvSpPr>
        <p:spPr>
          <a:xfrm>
            <a:off x="3504255" y="4836985"/>
            <a:ext cx="30658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PingFang SC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、对发现的部门、公司存在的问题提出相对应的建议；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（明确具体问题，以及给出改善建议）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717155" y="4733290"/>
            <a:ext cx="374840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PingFang SC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、个人下一步的工作计划；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PingFang SC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、近三年希望在源启得到职业、技能或其他成长的规划；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2043" y="5561634"/>
            <a:ext cx="3065899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PingFang SC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、胜任此岗位你的劣势是什么？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0748" y="3743536"/>
            <a:ext cx="4514286" cy="66415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2326" y="3803484"/>
            <a:ext cx="3464656" cy="6042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968128" cy="365125"/>
          </a:xfrm>
        </p:spPr>
        <p:txBody>
          <a:bodyPr/>
          <a:lstStyle/>
          <a:p>
            <a:fld id="{B0741D0E-A3D8-491D-A727-B0B9BE8255D7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92100" y="245608"/>
            <a:ext cx="139700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28" name="矩形 27"/>
          <p:cNvSpPr/>
          <p:nvPr/>
        </p:nvSpPr>
        <p:spPr>
          <a:xfrm>
            <a:off x="5327373" y="245608"/>
            <a:ext cx="6864625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30" name="TextBox 7"/>
          <p:cNvSpPr txBox="1"/>
          <p:nvPr/>
        </p:nvSpPr>
        <p:spPr>
          <a:xfrm>
            <a:off x="10566398" y="264755"/>
            <a:ext cx="1608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交付统筹办公室</a:t>
            </a:r>
          </a:p>
        </p:txBody>
      </p:sp>
      <p:sp>
        <p:nvSpPr>
          <p:cNvPr id="10" name="标题 2"/>
          <p:cNvSpPr txBox="1"/>
          <p:nvPr/>
        </p:nvSpPr>
        <p:spPr>
          <a:xfrm>
            <a:off x="397588" y="264755"/>
            <a:ext cx="4522038" cy="3580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自我介绍</a:t>
            </a:r>
          </a:p>
        </p:txBody>
      </p:sp>
      <p:sp>
        <p:nvSpPr>
          <p:cNvPr id="11" name="矩形 10"/>
          <p:cNvSpPr/>
          <p:nvPr/>
        </p:nvSpPr>
        <p:spPr>
          <a:xfrm>
            <a:off x="292100" y="245608"/>
            <a:ext cx="139700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13" name="矩形 12"/>
          <p:cNvSpPr/>
          <p:nvPr/>
        </p:nvSpPr>
        <p:spPr>
          <a:xfrm>
            <a:off x="7425369" y="245608"/>
            <a:ext cx="4766629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15" name="TextBox 7"/>
          <p:cNvSpPr txBox="1"/>
          <p:nvPr/>
        </p:nvSpPr>
        <p:spPr>
          <a:xfrm>
            <a:off x="10566398" y="264755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南部一组部门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678873" y="1555984"/>
            <a:ext cx="89167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、姓名：魏强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2</a:t>
            </a:r>
            <a:r>
              <a:rPr lang="zh-CN" altLang="en-US" sz="2000" b="1" dirty="0"/>
              <a:t>、部门：南部一组交付组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3</a:t>
            </a:r>
            <a:r>
              <a:rPr lang="zh-CN" altLang="en-US" sz="2000" b="1" dirty="0"/>
              <a:t>、岗位：实施工程师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4</a:t>
            </a:r>
            <a:r>
              <a:rPr lang="zh-CN" altLang="en-US" sz="2000" b="1" dirty="0"/>
              <a:t>、性格：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	</a:t>
            </a:r>
            <a:r>
              <a:rPr lang="zh-CN" altLang="zh-CN" sz="2000" b="1" dirty="0"/>
              <a:t>善于团队协作，乐于沟通，同时注重细节和执行力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5</a:t>
            </a:r>
            <a:r>
              <a:rPr lang="zh-CN" altLang="en-US" sz="2000" b="1" dirty="0"/>
              <a:t>、兴趣爱好：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	</a:t>
            </a:r>
            <a:r>
              <a:rPr lang="zh-CN" altLang="en-US" sz="2000" b="1" dirty="0"/>
              <a:t>户外活动，长途旅行，爬山等</a:t>
            </a:r>
            <a:r>
              <a:rPr lang="en-US" altLang="zh-CN" sz="2000" b="1" dirty="0"/>
              <a:t>	</a:t>
            </a:r>
          </a:p>
          <a:p>
            <a:endParaRPr lang="zh-CN" altLang="en-US" sz="2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5" name="标题 2"/>
          <p:cNvSpPr txBox="1"/>
          <p:nvPr/>
        </p:nvSpPr>
        <p:spPr>
          <a:xfrm>
            <a:off x="507161" y="245608"/>
            <a:ext cx="6411431" cy="3580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accent2">
                    <a:lumMod val="100000"/>
                  </a:schemeClr>
                </a:solidFill>
              </a:rPr>
              <a:t>部门职能理解与岗位职责认知</a:t>
            </a:r>
          </a:p>
        </p:txBody>
      </p:sp>
      <p:sp>
        <p:nvSpPr>
          <p:cNvPr id="6" name="矩形 5"/>
          <p:cNvSpPr/>
          <p:nvPr/>
        </p:nvSpPr>
        <p:spPr>
          <a:xfrm>
            <a:off x="292100" y="245608"/>
            <a:ext cx="139700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8" name="矩形 7"/>
          <p:cNvSpPr/>
          <p:nvPr/>
        </p:nvSpPr>
        <p:spPr>
          <a:xfrm>
            <a:off x="7234685" y="269710"/>
            <a:ext cx="4788663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920" y="256398"/>
            <a:ext cx="1819100" cy="363820"/>
          </a:xfrm>
          <a:prstGeom prst="rect">
            <a:avLst/>
          </a:prstGeom>
          <a:effectLst/>
        </p:spPr>
      </p:pic>
      <p:sp>
        <p:nvSpPr>
          <p:cNvPr id="10" name="TextBox 7"/>
          <p:cNvSpPr txBox="1"/>
          <p:nvPr/>
        </p:nvSpPr>
        <p:spPr>
          <a:xfrm>
            <a:off x="10541852" y="269710"/>
            <a:ext cx="1481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 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南部一组部门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46074" y="1002664"/>
            <a:ext cx="10678484" cy="58671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1</a:t>
            </a:r>
            <a:r>
              <a:rPr lang="zh-CN" altLang="en-US" b="1" dirty="0"/>
              <a:t>、职能认知理解</a:t>
            </a:r>
            <a:r>
              <a:rPr lang="zh-CN" altLang="en-US" dirty="0"/>
              <a:t>：负责公司产品在客户的环境中部署实施、技术交付，高效、稳定、顺利地落地应用，实现产品价值转化，客户关系与需求管理，技术保障与风险控制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/>
              <a:t>2</a:t>
            </a:r>
            <a:r>
              <a:rPr lang="zh-CN" altLang="en-US" b="1" dirty="0"/>
              <a:t>、部门的工作目标</a:t>
            </a:r>
            <a:endParaRPr lang="en-US" altLang="zh-CN" b="1" dirty="0"/>
          </a:p>
          <a:p>
            <a:pPr>
              <a:lnSpc>
                <a:spcPct val="150000"/>
              </a:lnSpc>
            </a:pPr>
            <a:endParaRPr lang="zh-CN" altLang="en-US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核心目标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	</a:t>
            </a:r>
            <a:r>
              <a:rPr lang="zh-CN" altLang="en-US" b="1" dirty="0"/>
              <a:t>高质量交付</a:t>
            </a:r>
            <a:r>
              <a:rPr lang="en-US" altLang="zh-CN" b="1" dirty="0"/>
              <a:t>:</a:t>
            </a:r>
            <a:r>
              <a:rPr lang="zh-CN" altLang="en-US" dirty="0"/>
              <a:t>在规定时间内完成设备部署和验收，缩短项目周期，降低交付成本。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效率目标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	</a:t>
            </a:r>
            <a:r>
              <a:rPr lang="zh-CN" altLang="en-US" b="1" dirty="0"/>
              <a:t>实施效率优化</a:t>
            </a:r>
            <a:r>
              <a:rPr lang="en-US" altLang="zh-CN" b="1" dirty="0"/>
              <a:t>:</a:t>
            </a:r>
            <a:r>
              <a:rPr lang="zh-CN" altLang="en-US" dirty="0"/>
              <a:t>缩短平均实施周期，确保用户能熟练操作系统。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客户目标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	</a:t>
            </a:r>
            <a:r>
              <a:rPr lang="zh-CN" altLang="en-US" b="1" dirty="0"/>
              <a:t>客户满意度提升</a:t>
            </a:r>
            <a:r>
              <a:rPr lang="en-US" altLang="zh-CN" b="1" dirty="0"/>
              <a:t>:</a:t>
            </a:r>
            <a:r>
              <a:rPr lang="zh-CN" altLang="en-US" dirty="0"/>
              <a:t>保障医院各用户满意度，进而提升公司建立行业口碑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  <a:p>
            <a:pPr>
              <a:lnSpc>
                <a:spcPct val="150000"/>
              </a:lnSpc>
            </a:pPr>
            <a:endParaRPr lang="en-US" altLang="zh-CN" b="1" dirty="0"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5" name="标题 2"/>
          <p:cNvSpPr txBox="1"/>
          <p:nvPr/>
        </p:nvSpPr>
        <p:spPr>
          <a:xfrm>
            <a:off x="507161" y="245608"/>
            <a:ext cx="6411431" cy="3580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accent2">
                    <a:lumMod val="100000"/>
                  </a:schemeClr>
                </a:solidFill>
              </a:rPr>
              <a:t>部门职能理解与岗位职责认知</a:t>
            </a:r>
          </a:p>
        </p:txBody>
      </p:sp>
      <p:sp>
        <p:nvSpPr>
          <p:cNvPr id="6" name="矩形 5"/>
          <p:cNvSpPr/>
          <p:nvPr/>
        </p:nvSpPr>
        <p:spPr>
          <a:xfrm>
            <a:off x="292100" y="245608"/>
            <a:ext cx="139700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8" name="矩形 7"/>
          <p:cNvSpPr/>
          <p:nvPr/>
        </p:nvSpPr>
        <p:spPr>
          <a:xfrm>
            <a:off x="7403337" y="235254"/>
            <a:ext cx="4788663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10" name="TextBox 7"/>
          <p:cNvSpPr txBox="1"/>
          <p:nvPr/>
        </p:nvSpPr>
        <p:spPr>
          <a:xfrm>
            <a:off x="10766139" y="245608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南部一组部门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2137" y="1364975"/>
            <a:ext cx="11007725" cy="29586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ym typeface="+mn-ea"/>
              </a:rPr>
              <a:t>岗位工作的认知</a:t>
            </a:r>
            <a:endParaRPr lang="en-US" altLang="zh-CN" b="1" dirty="0"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ym typeface="+mn-ea"/>
              </a:rPr>
              <a:t>	</a:t>
            </a:r>
            <a:r>
              <a:rPr lang="zh-CN" altLang="en-US" b="1" dirty="0"/>
              <a:t>角色本质</a:t>
            </a:r>
            <a:r>
              <a:rPr lang="zh-CN" altLang="en-US" dirty="0"/>
              <a:t>：技术执行 </a:t>
            </a:r>
            <a:r>
              <a:rPr lang="en-US" altLang="zh-CN" dirty="0"/>
              <a:t>+ </a:t>
            </a:r>
            <a:r>
              <a:rPr lang="zh-CN" altLang="en-US" dirty="0"/>
              <a:t>沟通枢纽 </a:t>
            </a:r>
            <a:r>
              <a:rPr lang="en-US" altLang="zh-CN" dirty="0"/>
              <a:t>+ </a:t>
            </a:r>
            <a:r>
              <a:rPr lang="zh-CN" altLang="en-US" dirty="0"/>
              <a:t>问题终结者。</a:t>
            </a:r>
          </a:p>
          <a:p>
            <a:pPr>
              <a:lnSpc>
                <a:spcPct val="150000"/>
              </a:lnSpc>
            </a:pP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	</a:t>
            </a:r>
            <a:r>
              <a:rPr lang="zh-CN" altLang="en-US" b="1" dirty="0"/>
              <a:t>工作特点</a:t>
            </a:r>
            <a:r>
              <a:rPr lang="zh-CN" altLang="en-US" dirty="0"/>
              <a:t>：环境复杂、差异性强，需快速学习与应变。</a:t>
            </a:r>
            <a:r>
              <a:rPr lang="en-US" altLang="zh-CN" dirty="0"/>
              <a:t> </a:t>
            </a:r>
            <a:endParaRPr lang="zh-CN" altLang="en-US" dirty="0"/>
          </a:p>
          <a:p>
            <a:pPr>
              <a:lnSpc>
                <a:spcPct val="150000"/>
              </a:lnSpc>
            </a:pP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	</a:t>
            </a:r>
            <a:r>
              <a:rPr lang="zh-CN" altLang="en-US" b="1" dirty="0"/>
              <a:t>价值感</a:t>
            </a:r>
            <a:r>
              <a:rPr lang="zh-CN" altLang="en-US" dirty="0"/>
              <a:t>：通过技术交付提升客户效率，创造价值。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741D0E-A3D8-491D-A727-B0B9BE8255D7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92100" y="245608"/>
            <a:ext cx="139700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8" name="矩形 7"/>
          <p:cNvSpPr/>
          <p:nvPr/>
        </p:nvSpPr>
        <p:spPr>
          <a:xfrm>
            <a:off x="7403337" y="235254"/>
            <a:ext cx="4788663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10" name="TextBox 7"/>
          <p:cNvSpPr txBox="1"/>
          <p:nvPr/>
        </p:nvSpPr>
        <p:spPr>
          <a:xfrm>
            <a:off x="10766139" y="245608"/>
            <a:ext cx="1375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南部一组部门</a:t>
            </a:r>
          </a:p>
        </p:txBody>
      </p:sp>
      <p:sp>
        <p:nvSpPr>
          <p:cNvPr id="11" name="标题 2"/>
          <p:cNvSpPr txBox="1"/>
          <p:nvPr/>
        </p:nvSpPr>
        <p:spPr>
          <a:xfrm>
            <a:off x="507161" y="245608"/>
            <a:ext cx="6411431" cy="3580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accent4"/>
                </a:solidFill>
              </a:rPr>
              <a:t>试用期成长轨迹</a:t>
            </a:r>
            <a:r>
              <a:rPr lang="en-US" altLang="zh-CN" sz="3200" b="1" dirty="0">
                <a:solidFill>
                  <a:schemeClr val="accent4"/>
                </a:solidFill>
              </a:rPr>
              <a:t>(</a:t>
            </a:r>
            <a:r>
              <a:rPr lang="zh-CN" altLang="en-US" sz="3200" b="1" dirty="0">
                <a:solidFill>
                  <a:schemeClr val="accent4"/>
                </a:solidFill>
              </a:rPr>
              <a:t>试用期工作总结</a:t>
            </a:r>
            <a:r>
              <a:rPr lang="en-US" altLang="zh-CN" sz="3200" b="1" dirty="0">
                <a:solidFill>
                  <a:schemeClr val="accent4"/>
                </a:solidFill>
              </a:rPr>
              <a:t>)</a:t>
            </a:r>
            <a:endParaRPr lang="zh-CN" altLang="en-US" sz="3200" b="1" dirty="0">
              <a:solidFill>
                <a:schemeClr val="accent4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7365" y="1002665"/>
            <a:ext cx="5506636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PingFang SC"/>
                <a:sym typeface="+mn-ea"/>
              </a:rPr>
              <a:t>★</a:t>
            </a:r>
            <a:r>
              <a:rPr lang="en-US" altLang="zh-CN" dirty="0">
                <a:solidFill>
                  <a:srgbClr val="333333"/>
                </a:solidFill>
                <a:latin typeface="PingFang SC"/>
                <a:sym typeface="+mn-ea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PingFang SC"/>
                <a:sym typeface="+mn-ea"/>
              </a:rPr>
              <a:t>、试用期的工作任务有哪些？主要成果是什么？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507161" y="1567981"/>
            <a:ext cx="9648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PingFang SC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重点要求</a:t>
            </a:r>
            <a:r>
              <a:rPr lang="en-US" altLang="zh-CN" dirty="0">
                <a:solidFill>
                  <a:srgbClr val="FF0000"/>
                </a:solidFill>
                <a:latin typeface="PingFang SC"/>
              </a:rPr>
              <a:t>】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：请将试用期工作总清单及工作成果，在本</a:t>
            </a:r>
            <a:r>
              <a:rPr lang="en-US" altLang="zh-CN" dirty="0" err="1">
                <a:solidFill>
                  <a:srgbClr val="FF0000"/>
                </a:solidFill>
                <a:latin typeface="PingFang SC"/>
              </a:rPr>
              <a:t>ppt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页，用</a:t>
            </a:r>
            <a:r>
              <a:rPr lang="en-US" altLang="zh-CN" dirty="0">
                <a:solidFill>
                  <a:srgbClr val="FF0000"/>
                </a:solidFill>
                <a:latin typeface="PingFang SC"/>
              </a:rPr>
              <a:t>excel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或其他工具文档体现</a:t>
            </a:r>
            <a:endParaRPr lang="en-US" altLang="zh-CN" dirty="0">
              <a:solidFill>
                <a:srgbClr val="FF0000"/>
              </a:solidFill>
              <a:latin typeface="PingFang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741D0E-A3D8-491D-A727-B0B9BE8255D7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92100" y="245608"/>
            <a:ext cx="139700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8" name="矩形 7"/>
          <p:cNvSpPr/>
          <p:nvPr/>
        </p:nvSpPr>
        <p:spPr>
          <a:xfrm>
            <a:off x="7403337" y="235254"/>
            <a:ext cx="4788663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10" name="TextBox 7"/>
          <p:cNvSpPr txBox="1"/>
          <p:nvPr/>
        </p:nvSpPr>
        <p:spPr>
          <a:xfrm>
            <a:off x="10766139" y="245608"/>
            <a:ext cx="1375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南部一组部门</a:t>
            </a:r>
          </a:p>
        </p:txBody>
      </p:sp>
      <p:sp>
        <p:nvSpPr>
          <p:cNvPr id="11" name="标题 2"/>
          <p:cNvSpPr txBox="1"/>
          <p:nvPr/>
        </p:nvSpPr>
        <p:spPr>
          <a:xfrm>
            <a:off x="507161" y="245608"/>
            <a:ext cx="6411431" cy="3580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accent4"/>
                </a:solidFill>
              </a:rPr>
              <a:t>试用期成长轨迹</a:t>
            </a:r>
            <a:r>
              <a:rPr lang="en-US" altLang="zh-CN" sz="3200" b="1" dirty="0">
                <a:solidFill>
                  <a:schemeClr val="accent4"/>
                </a:solidFill>
              </a:rPr>
              <a:t>(</a:t>
            </a:r>
            <a:r>
              <a:rPr lang="zh-CN" altLang="en-US" sz="3200" b="1" dirty="0">
                <a:solidFill>
                  <a:schemeClr val="accent4"/>
                </a:solidFill>
              </a:rPr>
              <a:t>试用期工作总结</a:t>
            </a:r>
            <a:r>
              <a:rPr lang="en-US" altLang="zh-CN" sz="3200" b="1" dirty="0">
                <a:solidFill>
                  <a:schemeClr val="accent4"/>
                </a:solidFill>
              </a:rPr>
              <a:t>)</a:t>
            </a:r>
            <a:endParaRPr lang="zh-CN" altLang="en-US" sz="3200" b="1" dirty="0">
              <a:solidFill>
                <a:schemeClr val="accent4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1800" y="1421431"/>
            <a:ext cx="10572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PingFang SC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重点要求</a:t>
            </a:r>
            <a:r>
              <a:rPr lang="en-US" altLang="zh-CN" dirty="0">
                <a:solidFill>
                  <a:srgbClr val="FF0000"/>
                </a:solidFill>
                <a:latin typeface="PingFang SC"/>
              </a:rPr>
              <a:t>】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：遇到问题、改进的方法及心得体会，请在本</a:t>
            </a:r>
            <a:r>
              <a:rPr lang="en-US" altLang="zh-CN" dirty="0" err="1">
                <a:solidFill>
                  <a:srgbClr val="FF0000"/>
                </a:solidFill>
                <a:latin typeface="PingFang SC"/>
              </a:rPr>
              <a:t>ppt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页，用</a:t>
            </a:r>
            <a:r>
              <a:rPr lang="en-US" altLang="zh-CN" dirty="0">
                <a:solidFill>
                  <a:srgbClr val="FF0000"/>
                </a:solidFill>
                <a:latin typeface="PingFang SC"/>
              </a:rPr>
              <a:t>excel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或其他方式逻辑清晰的体现</a:t>
            </a:r>
            <a:endParaRPr lang="en-US" altLang="zh-CN" dirty="0">
              <a:solidFill>
                <a:srgbClr val="FF0000"/>
              </a:solidFill>
              <a:latin typeface="PingFang SC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1950" y="920234"/>
            <a:ext cx="6532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PingFang SC"/>
                <a:sym typeface="+mn-ea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PingFang SC"/>
                <a:sym typeface="+mn-ea"/>
              </a:rPr>
              <a:t>、遇到的问题有哪些？你的改进方法是什么？你学到什么？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253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741D0E-A3D8-491D-A727-B0B9BE8255D7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92100" y="245608"/>
            <a:ext cx="139700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8" name="矩形 7"/>
          <p:cNvSpPr/>
          <p:nvPr/>
        </p:nvSpPr>
        <p:spPr>
          <a:xfrm>
            <a:off x="7403337" y="235254"/>
            <a:ext cx="4788663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10" name="TextBox 7"/>
          <p:cNvSpPr txBox="1"/>
          <p:nvPr/>
        </p:nvSpPr>
        <p:spPr>
          <a:xfrm>
            <a:off x="10766139" y="245608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南部一组部门</a:t>
            </a:r>
          </a:p>
        </p:txBody>
      </p:sp>
      <p:sp>
        <p:nvSpPr>
          <p:cNvPr id="11" name="标题 2"/>
          <p:cNvSpPr txBox="1"/>
          <p:nvPr/>
        </p:nvSpPr>
        <p:spPr>
          <a:xfrm>
            <a:off x="507161" y="245608"/>
            <a:ext cx="6411431" cy="3580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accent4"/>
                </a:solidFill>
              </a:rPr>
              <a:t>试用期成长轨迹</a:t>
            </a:r>
            <a:r>
              <a:rPr lang="en-US" altLang="zh-CN" sz="3200" b="1" dirty="0">
                <a:solidFill>
                  <a:schemeClr val="accent4"/>
                </a:solidFill>
              </a:rPr>
              <a:t>(</a:t>
            </a:r>
            <a:r>
              <a:rPr lang="zh-CN" altLang="en-US" sz="3200" b="1" dirty="0">
                <a:solidFill>
                  <a:schemeClr val="accent4"/>
                </a:solidFill>
              </a:rPr>
              <a:t>试用期工作总结</a:t>
            </a:r>
            <a:r>
              <a:rPr lang="en-US" altLang="zh-CN" sz="3200" b="1" dirty="0">
                <a:solidFill>
                  <a:schemeClr val="accent4"/>
                </a:solidFill>
              </a:rPr>
              <a:t>)</a:t>
            </a:r>
            <a:endParaRPr lang="zh-CN" altLang="en-US" sz="3200" b="1" dirty="0">
              <a:solidFill>
                <a:schemeClr val="accent4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7365" y="1002665"/>
            <a:ext cx="5968301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PingFang SC"/>
                <a:sym typeface="+mn-ea"/>
              </a:rPr>
              <a:t>★</a:t>
            </a:r>
            <a:r>
              <a:rPr lang="en-US" altLang="zh-CN" dirty="0">
                <a:solidFill>
                  <a:srgbClr val="333333"/>
                </a:solidFill>
                <a:latin typeface="PingFang SC"/>
                <a:sym typeface="+mn-ea"/>
              </a:rPr>
              <a:t>3</a:t>
            </a:r>
            <a:r>
              <a:rPr lang="zh-CN" altLang="en-US" dirty="0">
                <a:solidFill>
                  <a:srgbClr val="333333"/>
                </a:solidFill>
                <a:latin typeface="PingFang SC"/>
                <a:sym typeface="+mn-ea"/>
              </a:rPr>
              <a:t>、试用期的你主要学习哪些课程？你的收获有哪些？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507161" y="1567981"/>
            <a:ext cx="108466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PingFang SC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、外联业务中台的接口映射</a:t>
            </a:r>
            <a:endParaRPr lang="en-US" altLang="zh-CN" dirty="0">
              <a:solidFill>
                <a:srgbClr val="FF0000"/>
              </a:solidFill>
              <a:latin typeface="PingFang SC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PingFang SC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、中台产品相关的服务以及部署</a:t>
            </a:r>
            <a:endParaRPr lang="en-US" altLang="zh-CN" dirty="0">
              <a:solidFill>
                <a:srgbClr val="FF0000"/>
              </a:solidFill>
              <a:latin typeface="PingFang SC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PingFang SC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PingFang SC"/>
              </a:rPr>
              <a:t>、</a:t>
            </a:r>
            <a:endParaRPr lang="en-US" altLang="zh-CN" dirty="0">
              <a:solidFill>
                <a:srgbClr val="FF0000"/>
              </a:solidFill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305480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741D0E-A3D8-491D-A727-B0B9BE8255D7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92100" y="245608"/>
            <a:ext cx="139700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8" name="矩形 7"/>
          <p:cNvSpPr/>
          <p:nvPr/>
        </p:nvSpPr>
        <p:spPr>
          <a:xfrm>
            <a:off x="7403337" y="235254"/>
            <a:ext cx="4788663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626" y="227417"/>
            <a:ext cx="1819100" cy="363820"/>
          </a:xfrm>
          <a:prstGeom prst="rect">
            <a:avLst/>
          </a:prstGeom>
          <a:effectLst/>
        </p:spPr>
      </p:pic>
      <p:sp>
        <p:nvSpPr>
          <p:cNvPr id="10" name="TextBox 7"/>
          <p:cNvSpPr txBox="1"/>
          <p:nvPr/>
        </p:nvSpPr>
        <p:spPr>
          <a:xfrm>
            <a:off x="10468666" y="263275"/>
            <a:ext cx="1534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  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南部一组部门</a:t>
            </a:r>
          </a:p>
        </p:txBody>
      </p:sp>
      <p:sp>
        <p:nvSpPr>
          <p:cNvPr id="11" name="标题 2"/>
          <p:cNvSpPr txBox="1"/>
          <p:nvPr/>
        </p:nvSpPr>
        <p:spPr>
          <a:xfrm>
            <a:off x="507161" y="245608"/>
            <a:ext cx="6411431" cy="3580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accent6">
                    <a:lumMod val="75000"/>
                  </a:schemeClr>
                </a:solidFill>
              </a:rPr>
              <a:t>自我评价（优点及不足）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31800" y="901700"/>
            <a:ext cx="11256992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1" dirty="0"/>
              <a:t>优势一：扎实的技术功底与快速联调能力</a:t>
            </a:r>
            <a:endParaRPr lang="en-US" altLang="zh-CN" b="1" dirty="0"/>
          </a:p>
          <a:p>
            <a:pPr marL="342900" indent="-342900">
              <a:buAutoNum type="arabicPeriod"/>
            </a:pPr>
            <a:endParaRPr lang="zh-CN" altLang="en-US" b="1" dirty="0"/>
          </a:p>
          <a:p>
            <a:r>
              <a:rPr lang="zh-CN" altLang="en-US" dirty="0"/>
              <a:t>对于实施工程师而言，技术是地基，能快速定位和解决复杂的系统对接问题是项目成功的关键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2. </a:t>
            </a:r>
            <a:r>
              <a:rPr lang="zh-CN" altLang="en-US" b="1" dirty="0"/>
              <a:t>优势二：目标导向的高效执行力</a:t>
            </a:r>
            <a:endParaRPr lang="en-US" altLang="zh-CN" b="1" dirty="0"/>
          </a:p>
          <a:p>
            <a:endParaRPr lang="zh-CN" altLang="en-US" b="1" dirty="0"/>
          </a:p>
          <a:p>
            <a:r>
              <a:rPr lang="zh-CN" altLang="en-US" dirty="0"/>
              <a:t>在项目实施过程中，即使沟通和文档环节有所不足，强大的执行力也能弥补，确保任务不延期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优势是</a:t>
            </a:r>
            <a:r>
              <a:rPr lang="zh-CN" altLang="en-US" b="1" dirty="0"/>
              <a:t>技术可靠、执行扎实、善于用技术工具驱动问题解决</a:t>
            </a:r>
            <a:r>
              <a:rPr lang="zh-CN" altLang="en-US" dirty="0"/>
              <a:t>。对于短板，我已形成清晰的补足思路</a:t>
            </a:r>
            <a:r>
              <a:rPr lang="en-US" altLang="zh-CN" dirty="0"/>
              <a:t>——</a:t>
            </a:r>
            <a:r>
              <a:rPr lang="zh-CN" altLang="en-US" dirty="0"/>
              <a:t>即通过</a:t>
            </a:r>
            <a:r>
              <a:rPr lang="zh-CN" altLang="en-US" b="1" dirty="0"/>
              <a:t>结构化、可视化的技术输出</a:t>
            </a:r>
            <a:r>
              <a:rPr lang="zh-CN" altLang="en-US" dirty="0"/>
              <a:t>来提升沟通效率，并通过</a:t>
            </a:r>
            <a:r>
              <a:rPr lang="zh-CN" altLang="en-US" b="1" dirty="0"/>
              <a:t>主动协同与学习</a:t>
            </a:r>
            <a:r>
              <a:rPr lang="zh-CN" altLang="en-US" dirty="0"/>
              <a:t>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741D0E-A3D8-491D-A727-B0B9BE8255D7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92100" y="245608"/>
            <a:ext cx="139700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8" name="矩形 7"/>
          <p:cNvSpPr/>
          <p:nvPr/>
        </p:nvSpPr>
        <p:spPr>
          <a:xfrm>
            <a:off x="7403337" y="235254"/>
            <a:ext cx="4788663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10" name="TextBox 7"/>
          <p:cNvSpPr txBox="1"/>
          <p:nvPr/>
        </p:nvSpPr>
        <p:spPr>
          <a:xfrm>
            <a:off x="10766139" y="245608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南部一组部门</a:t>
            </a:r>
          </a:p>
        </p:txBody>
      </p:sp>
      <p:sp>
        <p:nvSpPr>
          <p:cNvPr id="11" name="标题 2"/>
          <p:cNvSpPr txBox="1"/>
          <p:nvPr/>
        </p:nvSpPr>
        <p:spPr>
          <a:xfrm>
            <a:off x="507161" y="245608"/>
            <a:ext cx="6411431" cy="3580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accent6">
                    <a:lumMod val="75000"/>
                  </a:schemeClr>
                </a:solidFill>
              </a:rPr>
              <a:t>自我评价（优点及不足）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30207" y="901700"/>
            <a:ext cx="984440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沟通协调的深度与前瞻性不足</a:t>
            </a:r>
          </a:p>
          <a:p>
            <a:r>
              <a:rPr lang="zh-CN" altLang="en-US" b="1" dirty="0"/>
              <a:t>问题表现：</a:t>
            </a:r>
            <a:r>
              <a:rPr lang="zh-CN" altLang="en-US" dirty="0"/>
              <a:t> 由于我的主要优势在于技术实现和高效执行，有时在项目前期或联调遇到跨部门问题时，我更倾向于快速通过技术手段解决，而</a:t>
            </a:r>
            <a:r>
              <a:rPr lang="zh-CN" altLang="en-US" b="1" dirty="0"/>
              <a:t>忽略了充分、详细地与非技术人员（如医院业务科室、财务人员）沟通</a:t>
            </a:r>
            <a:r>
              <a:rPr lang="zh-CN" altLang="en-US" dirty="0"/>
              <a:t>其背后的业务逻辑或变更影响。</a:t>
            </a:r>
          </a:p>
          <a:p>
            <a:r>
              <a:rPr lang="zh-CN" altLang="en-US" b="1" dirty="0"/>
              <a:t>带来的影响：</a:t>
            </a:r>
            <a:r>
              <a:rPr lang="zh-CN" altLang="en-US" dirty="0"/>
              <a:t> 尽管问题被解决了，但可能导致信息传递不够及时、全面，偶尔需要进行二次沟通确认，影响了部分流程的顺畅度。</a:t>
            </a:r>
          </a:p>
          <a:p>
            <a:r>
              <a:rPr lang="zh-CN" altLang="en-US" b="1" dirty="0"/>
              <a:t>改进方向：</a:t>
            </a:r>
            <a:r>
              <a:rPr lang="zh-CN" altLang="en-US" dirty="0"/>
              <a:t> 未来将加强</a:t>
            </a:r>
            <a:r>
              <a:rPr lang="zh-CN" altLang="en-US" b="1" dirty="0"/>
              <a:t>结构化沟通</a:t>
            </a:r>
            <a:r>
              <a:rPr lang="zh-CN" altLang="en-US" dirty="0"/>
              <a:t>训练，在启动、关键节点和变更发生时，主动召开简短会议或发送</a:t>
            </a:r>
            <a:r>
              <a:rPr lang="zh-CN" altLang="en-US" b="1" dirty="0"/>
              <a:t>清晰简报</a:t>
            </a:r>
            <a:r>
              <a:rPr lang="zh-CN" altLang="en-US" dirty="0"/>
              <a:t>，确保所有相关方对当前状态、风险和下一步计划达成一致。</a:t>
            </a:r>
          </a:p>
          <a:p>
            <a:r>
              <a:rPr lang="en-US" altLang="zh-CN" b="1" dirty="0"/>
              <a:t>2. </a:t>
            </a:r>
            <a:r>
              <a:rPr lang="zh-CN" altLang="en-US" b="1" dirty="0"/>
              <a:t>文档标准化与沉淀效率有待提高</a:t>
            </a:r>
          </a:p>
          <a:p>
            <a:r>
              <a:rPr lang="zh-CN" altLang="en-US" b="1" dirty="0"/>
              <a:t>问题表现：</a:t>
            </a:r>
            <a:r>
              <a:rPr lang="zh-CN" altLang="en-US" dirty="0"/>
              <a:t> 我在技术配置和故障排查效率高，但对于**实施过程文档（如配置手册、环境部署记录、关键问题解决方案</a:t>
            </a:r>
            <a:r>
              <a:rPr lang="en-US" altLang="zh-CN" dirty="0"/>
              <a:t>SOP</a:t>
            </a:r>
            <a:r>
              <a:rPr lang="zh-CN" altLang="en-US" dirty="0"/>
              <a:t>）**的撰写投入时间较少，且文档的标准化、易读性和细节丰富度不够。</a:t>
            </a:r>
          </a:p>
          <a:p>
            <a:r>
              <a:rPr lang="zh-CN" altLang="en-US" b="1" dirty="0"/>
              <a:t>带来的影响：</a:t>
            </a:r>
            <a:r>
              <a:rPr lang="zh-CN" altLang="en-US" dirty="0"/>
              <a:t> 这不利于知识的快速交接和团队内部的经验共享，一旦遇到同类问题或人员变动，可能会增加不必要的重复工作量。</a:t>
            </a:r>
          </a:p>
          <a:p>
            <a:r>
              <a:rPr lang="zh-CN" altLang="en-US" b="1" dirty="0"/>
              <a:t>改进方向：</a:t>
            </a:r>
            <a:r>
              <a:rPr lang="zh-CN" altLang="en-US" dirty="0"/>
              <a:t> 将</a:t>
            </a:r>
            <a:r>
              <a:rPr lang="zh-CN" altLang="en-US" b="1" dirty="0"/>
              <a:t>文档整理作为项目验收前的关键环节</a:t>
            </a:r>
            <a:r>
              <a:rPr lang="zh-CN" altLang="en-US" dirty="0"/>
              <a:t>，严格遵循部门规定的文档模板，并计划利用工具（如截图、流程图）来增强文档的可读性，提升知识沉淀的效率和质量。</a:t>
            </a:r>
          </a:p>
          <a:p>
            <a:r>
              <a:rPr lang="en-US" altLang="zh-CN" b="1" dirty="0"/>
              <a:t>3. </a:t>
            </a:r>
            <a:r>
              <a:rPr lang="zh-CN" altLang="en-US" b="1" dirty="0"/>
              <a:t>项目整体的宏观管理与风险预估能力不足</a:t>
            </a:r>
          </a:p>
          <a:p>
            <a:r>
              <a:rPr lang="zh-CN" altLang="en-US" b="1" dirty="0"/>
              <a:t>问题表现：</a:t>
            </a:r>
            <a:r>
              <a:rPr lang="zh-CN" altLang="en-US" dirty="0"/>
              <a:t> 我在负责具体技术任务时执行力强，但在同时处理多个并行项目或任务时，对</a:t>
            </a:r>
            <a:r>
              <a:rPr lang="zh-CN" altLang="en-US" b="1" dirty="0"/>
              <a:t>非技术环节</a:t>
            </a:r>
            <a:r>
              <a:rPr lang="zh-CN" altLang="en-US" dirty="0"/>
              <a:t>（如设备采购进度、医院内部审批流程）的</a:t>
            </a:r>
            <a:r>
              <a:rPr lang="zh-CN" altLang="en-US" b="1" dirty="0"/>
              <a:t>宏观跟踪和风险预警</a:t>
            </a:r>
            <a:r>
              <a:rPr lang="zh-CN" altLang="en-US" dirty="0"/>
              <a:t>能力稍弱。</a:t>
            </a:r>
          </a:p>
          <a:p>
            <a:r>
              <a:rPr lang="zh-CN" altLang="en-US" b="1" dirty="0"/>
              <a:t>带来的影响：</a:t>
            </a:r>
            <a:r>
              <a:rPr lang="zh-CN" altLang="en-US" dirty="0"/>
              <a:t> 有时可能因对外部依赖项的预判不足，导致项目整体进度在非技术环节上出现滞后。</a:t>
            </a:r>
          </a:p>
          <a:p>
            <a:r>
              <a:rPr lang="zh-CN" altLang="en-US" b="1" dirty="0"/>
              <a:t>改进方向：</a:t>
            </a:r>
            <a:r>
              <a:rPr lang="zh-CN" altLang="en-US" dirty="0"/>
              <a:t> 引入并坚持使用</a:t>
            </a:r>
            <a:r>
              <a:rPr lang="zh-CN" altLang="en-US" b="1" dirty="0"/>
              <a:t>项目管理工具或甘特图</a:t>
            </a:r>
            <a:r>
              <a:rPr lang="zh-CN" altLang="en-US" dirty="0"/>
              <a:t>进行日程规划，定期进行</a:t>
            </a:r>
            <a:r>
              <a:rPr lang="zh-CN" altLang="en-US" b="1" dirty="0"/>
              <a:t>项目依赖项回顾</a:t>
            </a:r>
            <a:r>
              <a:rPr lang="zh-CN" altLang="en-US" dirty="0"/>
              <a:t>，提前识别并向项目经理预警潜在的非技术风险点，提升全局把控能力。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741D0E-A3D8-491D-A727-B0B9BE8255D7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92100" y="245608"/>
            <a:ext cx="139700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8" name="矩形 7"/>
          <p:cNvSpPr/>
          <p:nvPr/>
        </p:nvSpPr>
        <p:spPr>
          <a:xfrm>
            <a:off x="7403337" y="235254"/>
            <a:ext cx="4788663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505" y="217586"/>
            <a:ext cx="1819100" cy="363820"/>
          </a:xfrm>
          <a:prstGeom prst="rect">
            <a:avLst/>
          </a:prstGeom>
          <a:effectLst/>
        </p:spPr>
      </p:pic>
      <p:sp>
        <p:nvSpPr>
          <p:cNvPr id="10" name="TextBox 7"/>
          <p:cNvSpPr txBox="1"/>
          <p:nvPr/>
        </p:nvSpPr>
        <p:spPr>
          <a:xfrm>
            <a:off x="10481605" y="245608"/>
            <a:ext cx="1534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  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南部一组部门</a:t>
            </a:r>
          </a:p>
        </p:txBody>
      </p:sp>
      <p:sp>
        <p:nvSpPr>
          <p:cNvPr id="11" name="标题 2"/>
          <p:cNvSpPr txBox="1"/>
          <p:nvPr/>
        </p:nvSpPr>
        <p:spPr>
          <a:xfrm>
            <a:off x="507161" y="245608"/>
            <a:ext cx="6411431" cy="3580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对部门及公司的建议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BB31CC7-6344-44D7-482B-76C2F52CD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545633"/>
              </p:ext>
            </p:extLst>
          </p:nvPr>
        </p:nvGraphicFramePr>
        <p:xfrm>
          <a:off x="603848" y="810883"/>
          <a:ext cx="10749952" cy="5366080"/>
        </p:xfrm>
        <a:graphic>
          <a:graphicData uri="http://schemas.openxmlformats.org/drawingml/2006/table">
            <a:tbl>
              <a:tblPr/>
              <a:tblGrid>
                <a:gridCol w="2687488">
                  <a:extLst>
                    <a:ext uri="{9D8B030D-6E8A-4147-A177-3AD203B41FA5}">
                      <a16:colId xmlns:a16="http://schemas.microsoft.com/office/drawing/2014/main" val="3866931191"/>
                    </a:ext>
                  </a:extLst>
                </a:gridCol>
                <a:gridCol w="2687488">
                  <a:extLst>
                    <a:ext uri="{9D8B030D-6E8A-4147-A177-3AD203B41FA5}">
                      <a16:colId xmlns:a16="http://schemas.microsoft.com/office/drawing/2014/main" val="2348554976"/>
                    </a:ext>
                  </a:extLst>
                </a:gridCol>
                <a:gridCol w="2687488">
                  <a:extLst>
                    <a:ext uri="{9D8B030D-6E8A-4147-A177-3AD203B41FA5}">
                      <a16:colId xmlns:a16="http://schemas.microsoft.com/office/drawing/2014/main" val="2948289892"/>
                    </a:ext>
                  </a:extLst>
                </a:gridCol>
                <a:gridCol w="2687488">
                  <a:extLst>
                    <a:ext uri="{9D8B030D-6E8A-4147-A177-3AD203B41FA5}">
                      <a16:colId xmlns:a16="http://schemas.microsoft.com/office/drawing/2014/main" val="3037804126"/>
                    </a:ext>
                  </a:extLst>
                </a:gridCol>
              </a:tblGrid>
              <a:tr h="3832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层面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明确问题（现状痛点）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建议对策（具体行动）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效益目标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065668"/>
                  </a:ext>
                </a:extLst>
              </a:tr>
              <a:tr h="11793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部门 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实施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项目管理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实施知识与文档标准化不足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：高频问题缺乏统一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SOP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，依赖个人经验。</a:t>
                      </a: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建立实施知识库（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KMS</a:t>
                      </a: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）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：沉淀标准操作流程（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SOP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），实现</a:t>
                      </a: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经验复用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。</a:t>
                      </a: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提升团队效率 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20%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，降低新员工上手难度。</a:t>
                      </a: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813554"/>
                  </a:ext>
                </a:extLst>
              </a:tr>
              <a:tr h="1179358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项目启动期交接效率低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：实施人员对非标需求了解滞后，临场解决压力大。</a:t>
                      </a: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规范化项目交接流程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：引入</a:t>
                      </a: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技术交底会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，由售前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研发提前向实施团队交底非标难点。</a:t>
                      </a: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减少实施阶段的</a:t>
                      </a: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突发技术隐患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，保障进度。</a:t>
                      </a: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34483"/>
                  </a:ext>
                </a:extLst>
              </a:tr>
              <a:tr h="11793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公司 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产品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研发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协作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产品通用性与兼容性需提升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：特定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HIS/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接口适配耗时，实施难度高。</a:t>
                      </a: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建立“实施痛点库”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：实施团队定期反馈</a:t>
                      </a: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最耗时配置点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，作为研发优化的核心输入。</a:t>
                      </a: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提高产品适配性，</a:t>
                      </a: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缩短平均实施周期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。</a:t>
                      </a: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535450"/>
                  </a:ext>
                </a:extLst>
              </a:tr>
              <a:tr h="144471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技术支持响应效率不稳定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：遇到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Bug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或设计缺陷时，研发介入流程不清晰。</a:t>
                      </a: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优化三级响应协作流程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：针对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L3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（研发支持）问题，设立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SLA</a:t>
                      </a: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（服务等级协议）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，确保关键时刻快速响应。</a:t>
                      </a: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提升客户满意度，</a:t>
                      </a: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减少项目延期风险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。</a:t>
                      </a:r>
                    </a:p>
                  </a:txBody>
                  <a:tcPr marL="71725" marR="71725" marT="47817" marB="4781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2375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741D0E-A3D8-491D-A727-B0B9BE8255D7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92100" y="245608"/>
            <a:ext cx="139700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188" y="235254"/>
            <a:ext cx="1819100" cy="363820"/>
          </a:xfrm>
          <a:prstGeom prst="rect">
            <a:avLst/>
          </a:prstGeom>
          <a:effectLst/>
        </p:spPr>
      </p:pic>
      <p:sp>
        <p:nvSpPr>
          <p:cNvPr id="8" name="矩形 7"/>
          <p:cNvSpPr/>
          <p:nvPr/>
        </p:nvSpPr>
        <p:spPr>
          <a:xfrm>
            <a:off x="7403337" y="235254"/>
            <a:ext cx="4788663" cy="3559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45608"/>
            <a:ext cx="1819100" cy="363820"/>
          </a:xfrm>
          <a:prstGeom prst="rect">
            <a:avLst/>
          </a:prstGeom>
          <a:effectLst/>
        </p:spPr>
      </p:pic>
      <p:sp>
        <p:nvSpPr>
          <p:cNvPr id="10" name="TextBox 7"/>
          <p:cNvSpPr txBox="1"/>
          <p:nvPr/>
        </p:nvSpPr>
        <p:spPr>
          <a:xfrm>
            <a:off x="10550165" y="259356"/>
            <a:ext cx="1481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 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南部一组部门</a:t>
            </a:r>
          </a:p>
        </p:txBody>
      </p:sp>
      <p:sp>
        <p:nvSpPr>
          <p:cNvPr id="11" name="标题 2"/>
          <p:cNvSpPr txBox="1"/>
          <p:nvPr/>
        </p:nvSpPr>
        <p:spPr>
          <a:xfrm>
            <a:off x="507161" y="245608"/>
            <a:ext cx="6411431" cy="3580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/>
              <a:t>个人在公司近三年职业发展规划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07365" y="1026795"/>
            <a:ext cx="11129010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、转正后，未来一年对本岗位工作具体规划是什么？为了完成此规划，你认为自身最需要改进或提升的地方是什么？</a:t>
            </a:r>
            <a:endParaRPr lang="en-US" altLang="zh-CN" dirty="0"/>
          </a:p>
          <a:p>
            <a:r>
              <a:rPr lang="zh-CN" altLang="en-US" b="1" dirty="0"/>
              <a:t>第一阶段（</a:t>
            </a:r>
            <a:r>
              <a:rPr lang="en-US" altLang="zh-CN" b="1" dirty="0"/>
              <a:t>3-6</a:t>
            </a:r>
            <a:r>
              <a:rPr lang="zh-CN" altLang="en-US" b="1" dirty="0"/>
              <a:t>个月）：成为能独立负责标准项目的“</a:t>
            </a:r>
            <a:r>
              <a:rPr lang="en-US" altLang="zh-CN" b="1" dirty="0"/>
              <a:t>Owner”</a:t>
            </a:r>
            <a:endParaRPr lang="en-US" altLang="zh-CN" dirty="0"/>
          </a:p>
          <a:p>
            <a:r>
              <a:rPr lang="zh-CN" altLang="en-US" b="1" dirty="0"/>
              <a:t>第二阶段（</a:t>
            </a:r>
            <a:r>
              <a:rPr lang="en-US" altLang="zh-CN" b="1" dirty="0"/>
              <a:t>6-12</a:t>
            </a:r>
            <a:r>
              <a:rPr lang="zh-CN" altLang="en-US" b="1" dirty="0"/>
              <a:t>个月）：在特定技术领域形成“深度专长”</a:t>
            </a:r>
            <a:endParaRPr lang="en-US" altLang="zh-CN" b="1" dirty="0"/>
          </a:p>
          <a:p>
            <a:r>
              <a:rPr lang="zh-CN" altLang="en-US" b="1" dirty="0"/>
              <a:t>全周期贯穿：从“交付执行”向“价值洞察”延伸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结构化文档能力</a:t>
            </a:r>
            <a:r>
              <a:rPr lang="en-US" altLang="zh-CN" dirty="0"/>
              <a:t>	</a:t>
            </a:r>
            <a:r>
              <a:rPr lang="zh-CN" altLang="en-US" dirty="0"/>
              <a:t>将个人经验高效转化为团队资产，加速知识传递和复用。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有效沟通与协调</a:t>
            </a:r>
            <a:r>
              <a:rPr lang="en-US" altLang="zh-CN" dirty="0"/>
              <a:t>  	</a:t>
            </a:r>
            <a:r>
              <a:rPr lang="zh-CN" altLang="en-US" dirty="0"/>
              <a:t>提升项目前期风险预估的准确性，</a:t>
            </a:r>
            <a:r>
              <a:rPr lang="zh-CN" altLang="en-US" b="1" dirty="0"/>
              <a:t>降低因沟通不畅导致的二次返工率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宏观项目把控</a:t>
            </a:r>
            <a:r>
              <a:rPr lang="en-US" altLang="zh-CN" dirty="0"/>
              <a:t>		</a:t>
            </a:r>
            <a:r>
              <a:rPr lang="zh-CN" altLang="en-US" dirty="0"/>
              <a:t>提升复杂项目的主导能力，确保在多线程工作中</a:t>
            </a:r>
            <a:r>
              <a:rPr lang="zh-CN" altLang="en-US" b="1" dirty="0"/>
              <a:t>能管住进度、控住风险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将从</a:t>
            </a:r>
            <a:r>
              <a:rPr lang="zh-CN" altLang="en-US" b="1" dirty="0"/>
              <a:t>技术深度、团队贡献和跨职能协作</a:t>
            </a:r>
            <a:r>
              <a:rPr lang="zh-CN" altLang="en-US" dirty="0"/>
              <a:t>三个维度进行规划，目标是从一名合格的实施工程师成长为能够</a:t>
            </a:r>
            <a:r>
              <a:rPr lang="zh-CN" altLang="en-US" b="1" dirty="0"/>
              <a:t>主导复杂项目交付和团队知识沉淀</a:t>
            </a:r>
            <a:r>
              <a:rPr lang="zh-CN" altLang="en-US" dirty="0"/>
              <a:t>的核心骨干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总之，在未来一年，我将坚持以**“技术保障硬质量，沟通提升软效率”</a:t>
            </a:r>
            <a:r>
              <a:rPr lang="zh-CN" altLang="en-US" b="1" dirty="0"/>
              <a:t>为双轮驱动，实现从一名</a:t>
            </a:r>
            <a:r>
              <a:rPr lang="zh-CN" altLang="en-US" dirty="0"/>
              <a:t>高效的技术执行者</a:t>
            </a:r>
            <a:r>
              <a:rPr lang="zh-CN" altLang="en-US" b="1" dirty="0"/>
              <a:t>向</a:t>
            </a:r>
            <a:r>
              <a:rPr lang="zh-CN" altLang="en-US" dirty="0"/>
              <a:t>全面的项目管理者和团队贡献者**的转变规划是</a:t>
            </a:r>
            <a:r>
              <a:rPr lang="zh-CN" altLang="en-US" b="1" dirty="0"/>
              <a:t>能力进阶路线图</a:t>
            </a:r>
            <a:r>
              <a:rPr lang="zh-CN" altLang="en-US" dirty="0"/>
              <a:t>，而实现它的关键杠杆在于</a:t>
            </a:r>
            <a:r>
              <a:rPr lang="zh-CN" altLang="en-US" b="1" dirty="0"/>
              <a:t>补齐从“技术思维”到“客户价值思维”的沟通与呈现短板</a:t>
            </a:r>
            <a:r>
              <a:rPr lang="zh-CN" altLang="en-US" dirty="0"/>
              <a:t>。我将以技术实力为根基，通过有意识的训练和反思，努力成长为既能扎实交付、又能创造并传递价值的复合型实施工程师。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7161" y="5615582"/>
            <a:ext cx="1149858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PingFang SC"/>
                <a:sym typeface="+mn-ea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PingFang SC"/>
                <a:sym typeface="+mn-ea"/>
              </a:rPr>
              <a:t>、近三年你希望在源启得到职业、技能或其他成长的规划是什么？</a:t>
            </a:r>
            <a:endParaRPr lang="en-US" altLang="zh-CN" dirty="0">
              <a:solidFill>
                <a:srgbClr val="333333"/>
              </a:solidFill>
              <a:latin typeface="PingFang SC"/>
              <a:sym typeface="+mn-ea"/>
            </a:endParaRPr>
          </a:p>
          <a:p>
            <a:r>
              <a:rPr lang="en-US" altLang="zh-CN" b="1" dirty="0"/>
              <a:t>	</a:t>
            </a:r>
            <a:r>
              <a:rPr lang="zh-CN" altLang="en-US" b="1" dirty="0"/>
              <a:t>第一年</a:t>
            </a:r>
            <a:r>
              <a:rPr lang="zh-CN" altLang="en-US" dirty="0"/>
              <a:t>：深化专业，弥补软性能力。</a:t>
            </a:r>
            <a:r>
              <a:rPr lang="zh-CN" altLang="en-US" b="1" dirty="0"/>
              <a:t>第二年</a:t>
            </a:r>
            <a:r>
              <a:rPr lang="zh-CN" altLang="en-US" dirty="0"/>
              <a:t>：主导大型项目，学习</a:t>
            </a:r>
            <a:r>
              <a:rPr lang="en-US" altLang="zh-CN" dirty="0"/>
              <a:t>PMP</a:t>
            </a:r>
            <a:r>
              <a:rPr lang="zh-CN" altLang="en-US" dirty="0"/>
              <a:t>，承担导师角色。</a:t>
            </a:r>
            <a:r>
              <a:rPr lang="zh-CN" altLang="en-US" b="1" dirty="0"/>
              <a:t>第三年</a:t>
            </a:r>
            <a:r>
              <a:rPr lang="zh-CN" altLang="en-US" dirty="0"/>
              <a:t>：参与产品规划与决策，提供战略支持。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06" t="689" r="879" b="15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2223471"/>
            <a:ext cx="12192000" cy="3262137"/>
          </a:xfrm>
          <a:prstGeom prst="rect">
            <a:avLst/>
          </a:prstGeom>
          <a:solidFill>
            <a:srgbClr val="0070C0"/>
          </a:solidFill>
          <a:ln w="3175" cap="flat">
            <a:solidFill>
              <a:srgbClr val="0070C0"/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ker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19"/>
          <p:cNvSpPr txBox="1">
            <a:spLocks noChangeArrowheads="1"/>
          </p:cNvSpPr>
          <p:nvPr/>
        </p:nvSpPr>
        <p:spPr bwMode="auto">
          <a:xfrm>
            <a:off x="4849505" y="3208209"/>
            <a:ext cx="249299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感谢聆听！</a:t>
            </a:r>
            <a:endParaRPr lang="en-US" altLang="zh-CN" sz="36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1D0E-A3D8-491D-A727-B0B9BE8255D7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64866" y="4008281"/>
            <a:ext cx="356235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武汉源启科技股份有限公司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总机：</a:t>
            </a:r>
            <a:r>
              <a:rPr lang="en-US" altLang="zh-CN" sz="1600" dirty="0">
                <a:solidFill>
                  <a:schemeClr val="bg1"/>
                </a:solidFill>
              </a:rPr>
              <a:t>027-59820075</a:t>
            </a:r>
          </a:p>
          <a:p>
            <a:r>
              <a:rPr lang="zh-CN" altLang="en-US" sz="1600" dirty="0">
                <a:solidFill>
                  <a:schemeClr val="bg1"/>
                </a:solidFill>
              </a:rPr>
              <a:t>官网： </a:t>
            </a:r>
            <a:r>
              <a:rPr lang="en-US" altLang="zh-CN" sz="1600" dirty="0">
                <a:solidFill>
                  <a:schemeClr val="bg1"/>
                </a:solidFill>
              </a:rPr>
              <a:t>www.yuanqitech.com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1613</TotalTime>
  <Words>1891</Words>
  <Application>Microsoft Office PowerPoint</Application>
  <PresentationFormat>宽屏</PresentationFormat>
  <Paragraphs>168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Google Sans Text</vt:lpstr>
      <vt:lpstr>PingFang SC</vt:lpstr>
      <vt:lpstr>等线</vt:lpstr>
      <vt:lpstr>等线 Light</vt:lpstr>
      <vt:lpstr>微软雅黑</vt:lpstr>
      <vt:lpstr>Arial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Ren Vicent</dc:creator>
  <cp:lastModifiedBy>强 魏</cp:lastModifiedBy>
  <cp:revision>337</cp:revision>
  <dcterms:created xsi:type="dcterms:W3CDTF">2018-02-08T04:52:00Z</dcterms:created>
  <dcterms:modified xsi:type="dcterms:W3CDTF">2025-12-11T12:54:34Z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